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914400" y="1645920"/>
            <a:ext cx="1097280" cy="1097280"/>
          </a:xfrm>
          <a:prstGeom prst="diamond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0" y="1691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FFFFF"/>
                </a:solidFill>
                <a:latin typeface="Calibri"/>
              </a:defRPr>
            </a:pPr>
            <a:r>
              <a:t>RailTech B2B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514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35819B"/>
                </a:solidFill>
                <a:latin typeface="Calibri"/>
              </a:defRPr>
            </a:pPr>
            <a:r>
              <a:t>Цифровая платформа закупок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94A3B8"/>
                </a:solidFill>
                <a:latin typeface="Calibri"/>
              </a:defRPr>
            </a:pPr>
            <a:r>
              <a:t>Единая экосистема для снабжения железнодорожным</a:t>
            </a:r>
            <a:br/>
            <a:r>
              <a:t>оборудованием и промышленными товарами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6172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ООО «RailTech»  ·  Ташкент, Узбекистан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172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35819B"/>
                </a:solidFill>
                <a:latin typeface="Calibri"/>
              </a:defRPr>
            </a:pPr>
            <a:r>
              <a:t>www.railtech.uz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ПРОБЛЕМА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0F172A"/>
                </a:solidFill>
                <a:latin typeface="Calibri"/>
              </a:defRPr>
            </a:pPr>
            <a:r>
              <a:t>Снабжение ж/д отрасли — сложный</a:t>
            </a:r>
            <a:br/>
            <a:r>
              <a:t>и непрозрачный процесс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4754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377440"/>
            <a:ext cx="54864" cy="1554480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2606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Calibri"/>
              </a:defRPr>
            </a:pPr>
            <a:r>
              <a:t>Разрозненные данные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3017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Каталоги в Excel, цены по телефону,</a:t>
            </a:r>
            <a:br/>
            <a:r>
              <a:t>длинные цепочки согласований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2377440"/>
            <a:ext cx="4754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2377440"/>
            <a:ext cx="54864" cy="1554480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6060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Calibri"/>
              </a:defRPr>
            </a:pPr>
            <a:r>
              <a:t>Долгие сроки закупки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17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От запроса до контракта — недели.</a:t>
            </a:r>
            <a:br/>
            <a:r>
              <a:t>Ручной расчёт логистики и таможни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206240"/>
            <a:ext cx="4754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4206240"/>
            <a:ext cx="54864" cy="1554480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Calibri"/>
              </a:defRPr>
            </a:pPr>
            <a:r>
              <a:t>Нет единой номенклатуры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У каждого поставщика свои названия,</a:t>
            </a:r>
            <a:br/>
            <a:r>
              <a:t>нет стандартизации артикулов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4206240"/>
            <a:ext cx="475488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4206240"/>
            <a:ext cx="54864" cy="1554480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172A"/>
                </a:solidFill>
                <a:latin typeface="Calibri"/>
              </a:defRPr>
            </a:pPr>
            <a:r>
              <a:t>Потери на ошибках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8463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Неточные цены, забытые позиции,</a:t>
            </a:r>
            <a:br/>
            <a:r>
              <a:t>неучтённые таможенные сборы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РЕШЕНИЕ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RailTech B2B — 5 уровней</a:t>
            </a:r>
            <a:br/>
            <a:r>
              <a:t>единой экосистемы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4A3B8"/>
                </a:solidFill>
                <a:latin typeface="Calibri"/>
              </a:defRPr>
            </a:pPr>
            <a:r>
              <a:t>Каждый пользователь видит систему через свой интерфейс — от открытого каталога до панели администратора.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00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2011680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3474720"/>
            <a:ext cx="594360" cy="594360"/>
          </a:xfrm>
          <a:prstGeom prst="ellipse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Публичный</a:t>
            </a:r>
            <a:br/>
            <a:r>
              <a:t>каталог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1 247 товаров</a:t>
            </a:r>
            <a:br/>
            <a:r>
              <a:t>3 домена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200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3200400"/>
            <a:ext cx="201168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520440" y="347472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Личный</a:t>
            </a:r>
            <a:br/>
            <a:r>
              <a:t>кабинет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Заявки, KYC,</a:t>
            </a:r>
            <a:br/>
            <a:r>
              <a:t>отслеживание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3200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3200400"/>
            <a:ext cx="201168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806440" y="347472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CRM</a:t>
            </a:r>
            <a:br/>
            <a:r>
              <a:t>менеджера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Сделки, КП,</a:t>
            </a:r>
            <a:br/>
            <a:r>
              <a:t>Landed Cost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06640" y="3200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3200400"/>
            <a:ext cx="20116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92440" y="347472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80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Smart</a:t>
            </a:r>
            <a:br/>
            <a:r>
              <a:t>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80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Excel → авто-</a:t>
            </a:r>
            <a:br/>
            <a:r>
              <a:t>matching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3200400"/>
            <a:ext cx="201168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92640" y="320040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78440" y="3474720"/>
            <a:ext cx="594360" cy="5943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42519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Админ-</a:t>
            </a:r>
            <a:br/>
            <a:r>
              <a:t>панель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48463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94A3B8"/>
                </a:solidFill>
                <a:latin typeface="Calibri"/>
              </a:defRPr>
            </a:pPr>
            <a:r>
              <a:t>Мониторинг,</a:t>
            </a:r>
            <a:br/>
            <a:r>
              <a:t>RBAC, KYC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01  ПУБЛИЧНЫЙ КАТАЛОГ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  <a:latin typeface="Calibri"/>
              </a:defRPr>
            </a:pPr>
            <a:r>
              <a:t>Единый каталог оборудования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Три домена товаров: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35819B"/>
                </a:solidFill>
                <a:latin typeface="Calibri"/>
              </a:defRPr>
            </a:pPr>
            <a:r>
              <a:t>Ж/Д техника · Общие товары · Услуги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Фасетная фильтрация по категориям, умный поиск по наименованию и артикулу. Каждый товар содержит технические характеристики, цену и статус наличия.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1 247 товаров  ·  86 производителей</a:t>
            </a:r>
          </a:p>
        </p:txBody>
      </p:sp>
      <p:pic>
        <p:nvPicPr>
          <p:cNvPr id="6" name="Picture 5" descr="cat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6949440" cy="39593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домена товаров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1 247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позиций в каталоге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86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производителей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263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статуса наличия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02  ЛИЧНЫЙ КАБИНЕТ КЛИЕНТА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  <a:latin typeface="Calibri"/>
              </a:defRPr>
            </a:pPr>
            <a:r>
              <a:t>Управление заявками и KYC</a:t>
            </a:r>
          </a:p>
        </p:txBody>
      </p:sp>
      <p:pic>
        <p:nvPicPr>
          <p:cNvPr id="5" name="Picture 4" descr="cli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959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Путь клиента: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35819B"/>
                </a:solidFill>
                <a:latin typeface="Calibri"/>
              </a:defRPr>
            </a:pPr>
            <a:r>
              <a:t>Регистрация  →  Заполнение профиля  →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35819B"/>
                </a:solidFill>
                <a:latin typeface="Calibri"/>
              </a:defRPr>
            </a:pPr>
            <a:r>
              <a:t>KYC верификация  →  Создание заявок  →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35819B"/>
                </a:solidFill>
                <a:latin typeface="Calibri"/>
              </a:defRPr>
            </a:pPr>
            <a:r>
              <a:t>Отслеживание сделок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Клиент видит свои KPI: количество заявок, статусы сделок, общую сумму контрактов. Быстрые действия позволяют создать заявку, загрузить Excel или пройти KYC.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4 уровня KYC верификации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L1 → Profile → L2 Verified → L3 Контракт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активные заявки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$248 700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сумма сделок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уровня KYC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35819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быстрых действия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03  CRM МЕНЕДЖЕРА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  <a:latin typeface="Calibri"/>
              </a:defRPr>
            </a:pPr>
            <a:r>
              <a:t>Сделки и калькулятор КП</a:t>
            </a:r>
          </a:p>
        </p:txBody>
      </p:sp>
      <p:pic>
        <p:nvPicPr>
          <p:cNvPr id="5" name="Picture 4" descr="crm_de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394960"/>
            <a:ext cx="12191695" cy="36576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532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Калькулятор коммерческих предложений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8978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Менеджер ведёт сделки в split-view: список слева, детали справа. Калькулятор автоматически рассчитывает Landed Cost: базовая цена FCA + логистика DAP + таможня → × (1 + маржа%) × 1.12 НДС = итоговая цена.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55778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200" b="1" i="0">
                <a:solidFill>
                  <a:srgbClr val="35819B"/>
                </a:solidFill>
                <a:latin typeface="Calibri"/>
              </a:defRPr>
            </a:pPr>
            <a:r>
              <a:t>$272 353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035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94A3B8"/>
                </a:solidFill>
                <a:latin typeface="Calibri"/>
              </a:defRPr>
            </a:pPr>
            <a:r>
              <a:t>итого к оплате с НДС 12%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03+  КАЛЬКУЛЯТОР В ДЕЙСТВИИ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Реальная система — расчёт сделки</a:t>
            </a:r>
          </a:p>
        </p:txBody>
      </p:sp>
      <p:pic>
        <p:nvPicPr>
          <p:cNvPr id="5" name="Picture 4" descr="quote_calcul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297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94A3B8"/>
                </a:solidFill>
                <a:latin typeface="Calibri"/>
              </a:defRPr>
            </a:pPr>
            <a:r>
              <a:t>Реальный скриншот: 11 позиций по 3 доменам, автоматический расчёт себестоимости, маржи и НДС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57607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 i="0">
                <a:solidFill>
                  <a:srgbClr val="35819B"/>
                </a:solidFill>
                <a:latin typeface="Calibri"/>
              </a:defRPr>
            </a:pPr>
            <a:r>
              <a:t>$847 250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263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итого с НДС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04  SMART IMPORT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  <a:latin typeface="Calibri"/>
              </a:defRPr>
            </a:pPr>
            <a:r>
              <a:t>Умный импорт из Excel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Как это работает: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F172A"/>
                </a:solidFill>
                <a:latin typeface="Calibri"/>
              </a:defRPr>
            </a:pPr>
            <a:r>
              <a:t>1. Клиент загружает Excel с позициями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F172A"/>
                </a:solidFill>
                <a:latin typeface="Calibri"/>
              </a:defRPr>
            </a:pPr>
            <a:r>
              <a:t>2. Система разбирает строки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F172A"/>
                </a:solidFill>
                <a:latin typeface="Calibri"/>
              </a:defRPr>
            </a:pPr>
            <a:r>
              <a:t>3. pg_trgm находит ближайшие совпадения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0F172A"/>
                </a:solidFill>
                <a:latin typeface="Calibri"/>
              </a:defRPr>
            </a:pPr>
            <a:r>
              <a:t>4. Менеджер подтверждает привязку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5819B"/>
                </a:solidFill>
                <a:latin typeface="Calibri"/>
              </a:defRPr>
            </a:pPr>
            <a:r>
              <a:t>Триграммный алгоритм (pg_trgm)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64748B"/>
                </a:solidFill>
                <a:latin typeface="Calibri"/>
              </a:defRPr>
            </a:pPr>
            <a:r>
              <a:t>Fuzzy-matching с показателем совпадения</a:t>
            </a:r>
            <a:br/>
            <a:r>
              <a:t>от 56% до 92% — даже с опечатками</a:t>
            </a:r>
            <a:br/>
            <a:r>
              <a:t>и нестандартными названиями.</a:t>
            </a:r>
          </a:p>
        </p:txBody>
      </p:sp>
      <p:pic>
        <p:nvPicPr>
          <p:cNvPr id="6" name="Picture 5" descr="sour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97280"/>
            <a:ext cx="6766560" cy="39593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35819B"/>
                </a:solidFill>
                <a:latin typeface="Calibri"/>
              </a:defRPr>
            </a:pPr>
            <a:r>
              <a:t>pg_trgm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алгоритм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35819B"/>
                </a:solidFill>
                <a:latin typeface="Calibri"/>
              </a:defRPr>
            </a:pPr>
            <a:r>
              <a:t>56–92%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точность совпадений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35819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домена фильтрации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35819B"/>
                </a:solidFill>
                <a:latin typeface="Calibri"/>
              </a:defRPr>
            </a:pPr>
            <a:r>
              <a:t>1 клик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привязка позиции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EF4444"/>
                </a:solidFill>
                <a:latin typeface="Calibri"/>
              </a:defRPr>
            </a:pPr>
            <a:r>
              <a:t>05  ПАНЕЛЬ АДМИНИСТРАТОРА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F172A"/>
                </a:solidFill>
                <a:latin typeface="Calibri"/>
              </a:defRPr>
            </a:pPr>
            <a:r>
              <a:t>Полный контроль над системой</a:t>
            </a:r>
          </a:p>
        </p:txBody>
      </p:sp>
      <p:pic>
        <p:nvPicPr>
          <p:cNvPr id="5" name="Picture 4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949440" cy="3959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0" y="137160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Мониторинг и управление: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Активный пайплайн — $571 200</a:t>
            </a:r>
            <a:br/>
            <a:r>
              <a:t>всех сделок в работе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Управление пользователями</a:t>
            </a:r>
            <a:br/>
            <a:r>
              <a:t>234 компании, роли и RBAC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Номенклатура и импорт</a:t>
            </a:r>
            <a:br/>
            <a:r>
              <a:t>1 247 товаров, Smart Match статистика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Лента активности</a:t>
            </a:r>
            <a:br/>
            <a:r>
              <a:t>Реал-тайм события: сделки, KYC,</a:t>
            </a:r>
            <a:br/>
            <a:r>
              <a:t>импорт, регистрации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0F172A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0F172A"/>
                </a:solidFill>
                <a:latin typeface="Calibri"/>
              </a:defRPr>
            </a:pPr>
            <a:r>
              <a:t>4 роли RBAC: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EF4444"/>
                </a:solidFill>
                <a:latin typeface="Calibri"/>
              </a:defRPr>
            </a:pPr>
            <a:r>
              <a:t>Guest · Client · Sales Manager · Admin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F4444"/>
                </a:solidFill>
                <a:latin typeface="Calibri"/>
              </a:defRPr>
            </a:pPr>
            <a:r>
              <a:t>$571 200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активный пайплайн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F4444"/>
                </a:solidFill>
                <a:latin typeface="Calibri"/>
              </a:defRPr>
            </a:pPr>
            <a:r>
              <a:t>234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компании в системе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F4444"/>
                </a:solidFill>
                <a:latin typeface="Calibri"/>
              </a:defRPr>
            </a:pPr>
            <a:r>
              <a:t>78%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matching точность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5806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EF4444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0" y="6263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64748B"/>
                </a:solidFill>
                <a:latin typeface="Calibri"/>
              </a:defRPr>
            </a:pPr>
            <a:r>
              <a:t>роли RBAC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35819B"/>
                </a:solidFill>
                <a:latin typeface="Calibri"/>
              </a:defRPr>
            </a:pPr>
            <a:r>
              <a:t>ТЕХНОЛОГИИ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Надёжный стек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5819B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28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React 18 + TypeScript + Tailwind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5819B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Django 5 + DRF + PostgreSQL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5819B"/>
                </a:solidFill>
                <a:latin typeface="Calibri"/>
              </a:defRPr>
            </a:pPr>
            <a:r>
              <a:t>Smart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3108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pg_trgm триграммное сходство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5819B"/>
                </a:solidFill>
                <a:latin typeface="Calibri"/>
              </a:defRPr>
            </a:pPr>
            <a:r>
              <a:t>Real-time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WebSocket уведомления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5819B"/>
                </a:solidFill>
                <a:latin typeface="Calibri"/>
              </a:defRPr>
            </a:pPr>
            <a:r>
              <a:t>Безопасность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RBAC, KYC 4 уровня, JWT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35819B"/>
                </a:solidFill>
                <a:latin typeface="Calibri"/>
              </a:defRPr>
            </a:pPr>
            <a:r>
              <a:t>Расчёты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029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94A3B8"/>
                </a:solidFill>
                <a:latin typeface="Calibri"/>
              </a:defRPr>
            </a:pPr>
            <a:r>
              <a:t>Landed Cost pipeline, НДС 12%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57200"/>
            <a:ext cx="36576" cy="5943600"/>
          </a:xfrm>
          <a:prstGeom prst="rect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7315200" y="1371600"/>
            <a:ext cx="914400" cy="914400"/>
          </a:xfrm>
          <a:prstGeom prst="diamond">
            <a:avLst/>
          </a:prstGeom>
          <a:solidFill>
            <a:srgbClr val="358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RailTech B2B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  <a:latin typeface="Calibri"/>
              </a:defRPr>
            </a:pPr>
            <a:r>
              <a:t>Готовы оптимизировать</a:t>
            </a:r>
            <a:br/>
            <a:r>
              <a:t>ваши закупки?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6576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5819B"/>
                </a:solidFill>
                <a:latin typeface="Calibri"/>
              </a:defRPr>
            </a:pPr>
            <a:r>
              <a:t>Свяжитесь с нами: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info@railtech.uz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+998 71 123-45-67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64748B"/>
                </a:solidFill>
                <a:latin typeface="Calibri"/>
              </a:defRPr>
            </a:pPr>
            <a:r>
              <a:t>Ташкент, Узбекистан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300" b="0">
                <a:solidFill>
                  <a:srgbClr val="35819B"/>
                </a:solidFill>
                <a:latin typeface="Calibri"/>
              </a:defRPr>
            </a:pPr>
            <a:r>
              <a:t>www.railtech.uz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