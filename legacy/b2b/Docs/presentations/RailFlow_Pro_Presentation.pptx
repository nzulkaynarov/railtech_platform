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73152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3B82F6"/>
                </a:solidFill>
                <a:latin typeface="Calibri"/>
              </a:rPr>
              <a:t>RailFlow</a:t>
            </a:r>
            <a:r>
              <a:rPr sz="5200" b="1">
                <a:solidFill>
                  <a:srgbClr val="F59E0B"/>
                </a:solidFill>
                <a:latin typeface="Calibri"/>
              </a:rPr>
              <a:t>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Цифровая B2B платформа для железнодорожной отрасли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Автоматизация полного цикла закупок: от импорта заявки</a:t>
            </a:r>
            <a:br/>
            <a:r>
              <a:t>до подписания контракта. Каталог, CRM, калькулятор</a:t>
            </a:r>
            <a:br/>
            <a:r>
              <a:t>себестоимости и real-time коммуникация в одной системе.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ООО «RailTech»  ·  Ташкент, Узбекистан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B82F6"/>
                </a:solidFill>
                <a:latin typeface="Calibri"/>
              </a:defRPr>
            </a:pPr>
            <a:r>
              <a:t>railtech.uz  ·  b2b.railtech.uz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371600"/>
            <a:ext cx="3474720" cy="685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1371600"/>
            <a:ext cx="54864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4264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Calibri"/>
              </a:defRPr>
            </a:pPr>
            <a:r>
              <a:t>1,200+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151790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Позиций в каталоге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286000"/>
            <a:ext cx="3474720" cy="685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2286000"/>
            <a:ext cx="54864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3408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A34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243230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Домена продукции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200400"/>
            <a:ext cx="3474720" cy="685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3200400"/>
            <a:ext cx="54864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32552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Calibri"/>
              </a:defRPr>
            </a:pPr>
            <a:r>
              <a:t>96%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334670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Smart Match точность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4114800"/>
            <a:ext cx="3474720" cy="685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4114800"/>
            <a:ext cx="54864" cy="685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4169663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Calibri"/>
              </a:defRPr>
            </a:pPr>
            <a:r>
              <a:t>12%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426110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НДС Узбекистан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5029200"/>
            <a:ext cx="3474720" cy="685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5029200"/>
            <a:ext cx="54864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50840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563E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517550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Интегрированных модулей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64739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Маркетинговая презентация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Проблемы отрасли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54864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167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2984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Ручной процесс закупок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19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Excel-файлы пересылаются по email, теряются версии, нет единого каталога. Менеджеры тратят до 60% времени на рутину.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6888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0545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871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Непрозрачное ценообразование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8346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Калькуляция себестоимости (FCA + логистика + таможня + маржа) ведётся вручную — ошибки в 15-20% случаев.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9417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7588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Отсутствие цифровой KYC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0233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Верификация клиентов и компаний через бумажные документы. Средний срок — 5-7 рабочих дней.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4632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8289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6460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Разрозненные системы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2120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CRM, каталог, чат, документооборот — в разных инструментах. Нет единого источника данных.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365760"/>
            <a:ext cx="4754880" cy="6035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6400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Calibri"/>
              </a:defRPr>
            </a:pPr>
            <a:r>
              <a:t>Рынок и возможности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1371600"/>
            <a:ext cx="3840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79" y="1463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$12.8B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187451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Рынок ж/д оборудования СНГ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208483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к 2028 году (CAGR 6.2%)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2468880"/>
            <a:ext cx="3840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79" y="2560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~200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29718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Компаний-поставщиков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18211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в Узбекистане и Казахстане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23760" y="3566160"/>
            <a:ext cx="3840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79" y="3657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72%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40690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Процессов на бумаге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427939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без цифровой автоматизации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23760" y="4663440"/>
            <a:ext cx="3840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79" y="4754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3.5x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51663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Потенциальный ROI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53766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при переходе на цифровую платформу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RailFlow Pro — единая экосистема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54864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5 интегрированных модулей, которые заменяют десятки разрозненных инструментов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2148840" cy="3474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21488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B2B Каталог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  1,200+ позиций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79192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5351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  3 домена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26664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00984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  Фасетный поиск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374136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64845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  Динамические фильтры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21607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892040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b2b.railtech.uz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1828800"/>
            <a:ext cx="2148840" cy="3474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1828800"/>
            <a:ext cx="214884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210312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CRM Сделки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26060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  Стадии сделки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71800" y="2679192"/>
            <a:ext cx="73152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0" y="295351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  Версионность КП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71800" y="3026664"/>
            <a:ext cx="73152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0" y="3300984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  Real-time чат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71800" y="3374136"/>
            <a:ext cx="73152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80" y="364845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  WebSocket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71800" y="3721607"/>
            <a:ext cx="73152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80360" y="4892040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crm.railtech.uz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0" y="1828800"/>
            <a:ext cx="2148840" cy="3474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0" y="1828800"/>
            <a:ext cx="214884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66360" y="210312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Калькулятор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26060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  Landed Cost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57800" y="2679192"/>
            <a:ext cx="73152" cy="7315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12080" y="295351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  FCA + Логистика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257800" y="3026664"/>
            <a:ext cx="73152" cy="7315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12080" y="3300984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  Маржа + НДС 12%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257800" y="3374136"/>
            <a:ext cx="73152" cy="7315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12080" y="364845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  Авто-расчёт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257800" y="3721607"/>
            <a:ext cx="73152" cy="7315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66360" y="4892040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Финансы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0" y="1828800"/>
            <a:ext cx="2148840" cy="3474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315200" y="1828800"/>
            <a:ext cx="21488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52360" y="210312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Smart Import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79" y="26060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  Excel импорт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43800" y="2679192"/>
            <a:ext cx="73152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98079" y="295351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  Smart Match AI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543800" y="3026664"/>
            <a:ext cx="73152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98079" y="3300984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  Триграммный поиск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543800" y="3374136"/>
            <a:ext cx="73152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98079" y="364845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  Авто-привязка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543800" y="3721607"/>
            <a:ext cx="73152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52360" y="4892040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Sourcing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601200" y="1828800"/>
            <a:ext cx="2148840" cy="3474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601200" y="1828800"/>
            <a:ext cx="214884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738360" y="210312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Админ-панель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84080" y="26060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  RBAC роли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829800" y="2679192"/>
            <a:ext cx="73152" cy="731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84080" y="295351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  KYC верификация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829800" y="3026664"/>
            <a:ext cx="73152" cy="731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84080" y="3300984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  Аналитика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829800" y="3374136"/>
            <a:ext cx="73152" cy="731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84080" y="364845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  Мониторинг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829800" y="3721607"/>
            <a:ext cx="73152" cy="731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38360" y="4892040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admin.railtech.uz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6355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React 18  +  TypeScript  +  Django 5  +  PostgreSQL  +  Redis  +  WebSockets  +  Celery  +  Docker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B2B Каталог продукции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Три домена: ЖД Техника  ·  Общие товары  ·  Услуги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20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Фасетная фильтрация по домену, группе, производителю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374904"/>
            <a:ext cx="54864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61264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Карточный и табличный вид с адаптивной сеткой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667512"/>
            <a:ext cx="54864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90525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Smart-поиск с подсказками и автодополнением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960120"/>
            <a:ext cx="54864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19786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Цены доступны только верифицированным клиентам (KYC L2+)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252728"/>
            <a:ext cx="54864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3776" y="1271016"/>
            <a:ext cx="11247120" cy="534924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4712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CRM и управление сделками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Полный цикл: заявка → расчёт → КП → договор → закрытие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20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Пайплайн сделок с визуальными стадиями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374904"/>
            <a:ext cx="54864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61264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Встроенный real-time чат (WebSocket) для каждой сделки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667512"/>
            <a:ext cx="54864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90525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Версионность коммерческих предложений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960120"/>
            <a:ext cx="54864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19786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Кнопка «Принять КП» — мгновенное подтверждение клиентом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252728"/>
            <a:ext cx="54864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3776" y="1271016"/>
            <a:ext cx="11247120" cy="534924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rm_d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4712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Калькулятор себестоимости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Calibri"/>
              </a:defRPr>
            </a:pPr>
            <a:r>
              <a:t>FCA  →  + Логистика DAP  →  + Таможня  →  = Себестоимость  →  × (1 + Маржа%)  →  × 1.12 НДС  →  Итого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271016"/>
            <a:ext cx="11247120" cy="534924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uote_bui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4712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Smart Import из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AI-powered сопоставление товаров с каталогом (pg_trgm)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20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Загрузка Excel-заявки клиента — парсинг за секунды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374904"/>
            <a:ext cx="54864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61264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Триграммный Smart Match: точность сопоставления до 96%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667512"/>
            <a:ext cx="54864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90525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Авто-привязка найденных, ручной подбор — для остальных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960120"/>
            <a:ext cx="54864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19786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Автоматическая категоризация по доменам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252728"/>
            <a:ext cx="54864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3776" y="1271016"/>
            <a:ext cx="11247120" cy="534924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our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4712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Админ-панель и аналитика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Полный контроль: пользователи, KYC, каталог, воронка продаж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20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RBAC-система: 4 роли с гибким управлением доступом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374904"/>
            <a:ext cx="54864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61264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KYC-верификация компаний: 4 уровня проверки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667512"/>
            <a:ext cx="54864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90525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Воронка продаж с визуализацией конверсии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960120"/>
            <a:ext cx="54864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19786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Дашборд выручки с помесячной динамикой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252728"/>
            <a:ext cx="54864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3776" y="1271016"/>
            <a:ext cx="11247120" cy="534924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4712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Личный кабинет клиента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Клиент видит свои сделки, КП, и управляет заявками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20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KPI-панель: сделки, КП, контракты, годовой объём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374904"/>
            <a:ext cx="54864" cy="5486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61264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Быстрый импорт Excel или выбор из каталога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667512"/>
            <a:ext cx="54864" cy="5486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90525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Отслеживание статуса каждой сделки в реальном времени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960120"/>
            <a:ext cx="54864" cy="5486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19786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Полная прозрачность — клиент всегда в курсе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252728"/>
            <a:ext cx="54864" cy="5486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3776" y="1271016"/>
            <a:ext cx="11247120" cy="534924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lien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4712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73152" cy="3200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3B82F6"/>
                </a:solidFill>
                <a:latin typeface="Calibri"/>
              </a:rPr>
              <a:t>RailFlow</a:t>
            </a:r>
            <a:r>
              <a:rPr sz="4800" b="1">
                <a:solidFill>
                  <a:srgbClr val="F59E0B"/>
                </a:solidFill>
                <a:latin typeface="Calibri"/>
              </a:rPr>
              <a:t>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Готовы трансформировать ваш бизнес?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Запросите демонстрацию платформы и узнайте,</a:t>
            </a:r>
            <a:br/>
            <a:r>
              <a:t>как RailFlow Pro ускорит ваши закупки.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274320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Запросить демо  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192024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864607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Телефон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074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+998 71 200-00-00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4846320"/>
            <a:ext cx="192024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79" y="4864607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79" y="5074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info@railtech.uz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4846320"/>
            <a:ext cx="192024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80" y="4864607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Сайт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5074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b2b.railtech.uz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440680"/>
            <a:ext cx="630936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4589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Офис: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45896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г. Ташкент, ул. Амира Темура, 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Ключевые преимущества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1920240"/>
            <a:ext cx="438912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79" y="20116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Calibri"/>
              </a:defRPr>
            </a:pPr>
            <a:r>
              <a:t>85%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08483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Сокращение времени на обработку заявок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2670048"/>
            <a:ext cx="438912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79" y="27614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Calibri"/>
              </a:defRPr>
            </a:pPr>
            <a:r>
              <a:t>96%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2834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Точность Smart Match при импорте Excel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3419856"/>
            <a:ext cx="438912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79" y="351129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Calibri"/>
              </a:defRPr>
            </a:pPr>
            <a:r>
              <a:t>3x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358444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Ускорение цикла от заявки до договора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4169663"/>
            <a:ext cx="438912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79" y="4261103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Calibri"/>
              </a:defRPr>
            </a:pPr>
            <a:r>
              <a:t>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334255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Ошибок в финансовых расчётах (серверная логика)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0" y="4919472"/>
            <a:ext cx="438912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79" y="501091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Calibri"/>
              </a:defRPr>
            </a:pPr>
            <a:r>
              <a:t>24/7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508406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Real-time уведомления и чат с менеджером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5105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© 2026 ООО «RailTech». Все права защищены.  ·  Конфиденциально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